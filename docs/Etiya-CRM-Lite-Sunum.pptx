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11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1051560" cy="105156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51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F33"/>
                </a:solidFill>
                <a:latin typeface="Segoe UI"/>
              </a:rPr>
              <a:t>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96012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B6B0"/>
                </a:solidFill>
                <a:latin typeface="Segoe UI"/>
              </a:rPr>
              <a:t>ETIYA CRM LITE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FB3C4"/>
                </a:solidFill>
                <a:latin typeface="Segoe UI"/>
              </a:rPr>
              <a:t>Akademi Bitirme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Mikroservis Mimarili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CRM Uygulaması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343400"/>
            <a:ext cx="3108960" cy="4114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EFF4"/>
                </a:solidFill>
                <a:latin typeface="Segoe UI"/>
              </a:rPr>
              <a:t>Spring Boot 4  ·  Spring Cloud  ·  Kafka + Debezium  ·  Saga  ·  Angular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B6B0"/>
                </a:solidFill>
                <a:latin typeface="Segoe UI"/>
              </a:rPr>
              <a:t>Ekip:  </a:t>
            </a:r>
            <a:r>
              <a:rPr sz="1300" b="0">
                <a:solidFill>
                  <a:srgbClr val="E8EFF4"/>
                </a:solidFill>
                <a:latin typeface="Segoe UI"/>
              </a:rPr>
              <a:t>[Ad Soyad] · [Ad Soyad] · [Ad Soyad]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3C4"/>
                </a:solidFill>
                <a:latin typeface="Segoe UI"/>
              </a:rPr>
              <a:t>Backend · Frontend · Infra /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SUNUM PLANI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Ajanda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544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Proje Özeti — Etiya CRM Lite ne yapar?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5544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Neden mikroservis? Mimari genel bakış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50591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50591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Teknoloji yığını (backend + frontend)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50591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45059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50591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Domain modeli &amp; katmanlı mimari · klasör yapısı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346704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467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4670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Olay-tabanlı omurga: Outbox · Debezium · Inbox · Saga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346704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3467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34670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Request/Response mantığı · Validasyonlar · Çok dil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42816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4281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4281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Güvenlik &amp; Frontend mimarisi (Angular 22)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42816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24281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4281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Yapay zekayı geliştirmeye nasıl entegre ettik?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38928"/>
            <a:ext cx="566928" cy="56692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389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3"/>
                </a:solidFill>
                <a:latin typeface="Segoe UI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13892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Canlı demo · Öğrenilenler · Sorular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GENEL BAKIŞ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Proje Özeti: Etiya CRM Lite Ne Yapar?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42433"/>
                </a:solidFill>
                <a:latin typeface="Segoe UI"/>
              </a:rPr>
              <a:t>Bir telekom CRM'inin çekirdek satış akışını uçtan uca modelleyen, üretim-benzeri bir mikroservis uygulaması.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691640" cy="8686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16916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67712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Müşteri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Arama/Oluştur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4884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148840"/>
            <a:ext cx="1691640" cy="8686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2148840"/>
            <a:ext cx="16916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267712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Fatura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Hesabı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14884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148840"/>
            <a:ext cx="1691640" cy="8686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148840"/>
            <a:ext cx="16916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67712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Katalog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Kampanya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4884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148840"/>
            <a:ext cx="1691640" cy="8686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148840"/>
            <a:ext cx="16916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267712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Sepet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14884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9" y="2148840"/>
            <a:ext cx="1691640" cy="8686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2148840"/>
            <a:ext cx="16916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9" y="2267712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Sipariş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(Checkout)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9" y="214884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2148840"/>
            <a:ext cx="1691640" cy="8686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12680" y="2148840"/>
            <a:ext cx="16916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267712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Ürün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Provizyonu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383280"/>
            <a:ext cx="3520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383280"/>
            <a:ext cx="35204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5844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10 Bağımsız Servis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986784"/>
            <a:ext cx="31181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Her servis kendi veritabanını yönetir (per-service DB)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3 altyapı + 5 iş servisi + search + BFF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Bağımsız paketlenir ve çalışır (JAR)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383280"/>
            <a:ext cx="3520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383280"/>
            <a:ext cx="35204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4568" y="35844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Kurumsal Desenler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568" y="3986784"/>
            <a:ext cx="31181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Choreography Saga (dağıtık işlem)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CQRS read-model (arama)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Transactional Outbox + Inbox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API Gateway + BFF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383280"/>
            <a:ext cx="3520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3383280"/>
            <a:ext cx="35204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47888" y="35844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Hedefimiz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3986784"/>
            <a:ext cx="31181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Sadece çalışan bir CRUD değil;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dağıtık sistemlerin gerçek problemlerini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(tutarlılık, idempotency, servis keşfi)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çözen bir mimari kurmak.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MIMARI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Neden Mikroservis? Mimari Genel Bakış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Kullanılan mimari: </a:t>
            </a:r>
            <a:r>
              <a:rPr sz="1400" b="1">
                <a:solidFill>
                  <a:srgbClr val="118A86"/>
                </a:solidFill>
                <a:latin typeface="Segoe UI"/>
              </a:rPr>
              <a:t>Mikroservis + Olay-Tabanlı (Event-Driven) + Choreography Saga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3611880" cy="4572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ALTYAPI SERVİSLERİ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7802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config-server  </a:t>
            </a:r>
            <a:r>
              <a:rPr sz="1000" b="1">
                <a:solidFill>
                  <a:srgbClr val="118A86"/>
                </a:solidFill>
                <a:latin typeface="Segoe UI"/>
              </a:rPr>
              <a:t>8888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Merkezi konfigürasyon (Spring Cloud Config)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0954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eureka-server  </a:t>
            </a:r>
            <a:r>
              <a:rPr sz="1000" b="1">
                <a:solidFill>
                  <a:srgbClr val="118A86"/>
                </a:solidFill>
                <a:latin typeface="Segoe UI"/>
              </a:rPr>
              <a:t>8761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Servis keşfi (Netflix Eureka)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41063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gateway-server  </a:t>
            </a:r>
            <a:r>
              <a:rPr sz="1000" b="1">
                <a:solidFill>
                  <a:srgbClr val="118A86"/>
                </a:solidFill>
                <a:latin typeface="Segoe UI"/>
              </a:rPr>
              <a:t>8080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Tek giriş noktası (Cloud Gateway)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874519"/>
            <a:ext cx="3611880" cy="457200"/>
          </a:xfrm>
          <a:prstGeom prst="rect">
            <a:avLst/>
          </a:prstGeom>
          <a:solidFill>
            <a:srgbClr val="11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İŞ SERVİSLERİ (Saga)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242316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47802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customer / account  </a:t>
            </a:r>
            <a:r>
              <a:rPr sz="1000" b="1">
                <a:solidFill>
                  <a:srgbClr val="118A86"/>
                </a:solidFill>
                <a:latin typeface="Segoe UI"/>
              </a:rPr>
              <a:t>8081/2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Müşteri, adres · Fatura hesabı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15468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20954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product / cart  </a:t>
            </a:r>
            <a:r>
              <a:rPr sz="1000" b="1">
                <a:solidFill>
                  <a:srgbClr val="118A86"/>
                </a:solidFill>
                <a:latin typeface="Segoe UI"/>
              </a:rPr>
              <a:t>8084/5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Katalog, kampanya · Sepet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88620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941063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order-service  </a:t>
            </a:r>
            <a:r>
              <a:rPr sz="1000" b="1">
                <a:solidFill>
                  <a:srgbClr val="118A86"/>
                </a:solidFill>
                <a:latin typeface="Segoe UI"/>
              </a:rPr>
              <a:t>8086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Sipariş / checkout (FR-016)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874519"/>
            <a:ext cx="3611880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ÖZEL 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42316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47802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search-service  </a:t>
            </a:r>
            <a:r>
              <a:rPr sz="1000" b="1">
                <a:solidFill>
                  <a:srgbClr val="118A86"/>
                </a:solidFill>
                <a:latin typeface="Segoe UI"/>
              </a:rPr>
              <a:t>8087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CQRS read-model (müşteri arama)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15468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20954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bff-service  </a:t>
            </a:r>
            <a:r>
              <a:rPr sz="1000" b="1">
                <a:solidFill>
                  <a:srgbClr val="118A86"/>
                </a:solidFill>
                <a:latin typeface="Segoe UI"/>
              </a:rPr>
              <a:t>8099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Backend for Frontend (DB'siz)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88620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941063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2433"/>
                </a:solidFill>
                <a:latin typeface="Segoe UI"/>
              </a:rPr>
              <a:t>— toplam 10 modül —  </a:t>
            </a:r>
            <a:r>
              <a:rPr sz="1000" b="1">
                <a:solidFill>
                  <a:srgbClr val="118A86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B3C4"/>
                </a:solidFill>
                <a:latin typeface="Segoe UI"/>
              </a:rPr>
              <a:t>Parent POM ile merkezi yönetim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Neden? </a:t>
            </a:r>
            <a:r>
              <a:rPr sz="1200" b="0">
                <a:solidFill>
                  <a:srgbClr val="142433"/>
                </a:solidFill>
                <a:latin typeface="Segoe UI"/>
              </a:rPr>
              <a:t>Bağımsız ölçekleme + bağımsız deploy + şema izolasyonu. Bedeli dağıtık tutarlılık → Saga + Outbox/Inbox ile çözüldü.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Teknoloji Yığını (Backend + Frontend)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532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Dil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417320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Java 25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Modern: record, pattern 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532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417320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417320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Spring Boot 4.0 + Spring Cloud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Kurumsal standart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020824"/>
            <a:ext cx="553212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020824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020824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Veritabanı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020824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PostgreSQL (per-service)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wal_level=logical → CDC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020824"/>
            <a:ext cx="553212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020824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020824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Servis Keşfi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020824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Netflix Eureka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İstemci-taraflı load-balancing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624328"/>
            <a:ext cx="5532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2624328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624328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624328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Spring Cloud Gateway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Reaktif, tek giriş + CORS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624328"/>
            <a:ext cx="5532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624328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2624328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Mesajlaşma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624328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Kafka (KRaft) + Cloud Stream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Asenkron, olay-tabanlı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227832"/>
            <a:ext cx="553212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227832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227832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Güvenilir yayın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3227832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Outbox + Debezium (CDC)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Ghost event yok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227832"/>
            <a:ext cx="553212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3227832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3227832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Idempotency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227832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Inbox Pattern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Duplicate consume yok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831336"/>
            <a:ext cx="5532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3831336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3831336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Cache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3831336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Redis + RedisInsight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TTL bazlı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831336"/>
            <a:ext cx="5532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3831336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3831336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DTO Eşleme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3831336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MapStruct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Compile-time, reflection yok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434840"/>
            <a:ext cx="553212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4434840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4434840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Kimlik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40280" y="4434840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Keycloak (OAuth2 / JWT)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Merkezi kimlik doğrulama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434840"/>
            <a:ext cx="553212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4434840"/>
            <a:ext cx="54864" cy="54864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952" y="4434840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18A86"/>
                </a:solidFill>
                <a:latin typeface="Segoe UI"/>
              </a:rPr>
              <a:t>Frontend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4434840"/>
            <a:ext cx="3840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42433"/>
                </a:solidFill>
                <a:latin typeface="Segoe UI"/>
              </a:rPr>
              <a:t>Angular 22 + Signals + Tailwind</a:t>
            </a:r>
            <a:r>
              <a:rPr sz="950" b="0">
                <a:solidFill>
                  <a:srgbClr val="9FB3C4"/>
                </a:solidFill>
                <a:latin typeface="Segoe UI"/>
              </a:rPr>
              <a:t>  ·  Sinyal-tabanlı, modern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Her seçim gerekçeli: örn. MapStruct → dönüşüm derleme zamanında üretilir (runtime reflection yok, üretilen kod görülebilir).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KULLANILAN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Domain Modeli &amp; Kullanılan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Kullanılan model: </a:t>
            </a:r>
            <a:r>
              <a:rPr sz="1400" b="1">
                <a:solidFill>
                  <a:srgbClr val="118A86"/>
                </a:solidFill>
                <a:latin typeface="Segoe UI"/>
              </a:rPr>
              <a:t>Party Model (telekom SID hizası) + per-service şema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5212080" cy="23317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74519"/>
            <a:ext cx="64008" cy="233172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6595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B6B0"/>
                </a:solidFill>
                <a:latin typeface="Segoe UI"/>
              </a:rPr>
              <a:t>Party → PartyRole → Customer / SystemUser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58567"/>
            <a:ext cx="4754880" cy="1874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Party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  └─ PartyRole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        ├─ Customer   (rol tipi: CUST)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        └─ SystemUser (rol tipi: USER)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Customer  ◄── JOINED ──  IndividualCustomer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(kök)                  (1-1 paylaşılan PK)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5A623"/>
                </a:solidFill>
                <a:latin typeface="Consolas"/>
              </a:rPr>
              <a:t>BaseEntity: id · created/updated/deleted_date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5A623"/>
                </a:solidFill>
                <a:latin typeface="Consolas"/>
              </a:rPr>
              <a:t>            · is_active   (soft-delete)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874519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18A86"/>
                </a:solidFill>
                <a:latin typeface="Segoe UI"/>
              </a:rPr>
              <a:t>▸  Party soyutlaması: aynı kişi hem müşteri (CUST) hem kullanıcı (USER) olabilir — SID standardıyla hizalı.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▸  JPA JOINED kalıtım: Customer ← IndividualCustomer (1-1).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▸  BaseEntity (@MappedSuperclass): tüm entity'ler ortak alanları miras alır.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▸  Soft-delete: fiziksel silme yok → isActive=false + deletedDate.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18A86"/>
                </a:solidFill>
                <a:latin typeface="Segoe UI"/>
              </a:rPr>
              <a:t>▸  Katalog vs. Kampanya bilinçli farkı: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–  Teklif → tam bir kataloğa (kategori) ait: 1-N, zorunlu.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–  Kampanya → çok tekliften opsiyonel paket: N-N.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KLASÖR YAPISI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Katmanlı Mimari (n-layered) + Klasör Yapısı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486400" cy="46177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64008" cy="461772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08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B6B0"/>
                </a:solidFill>
                <a:latin typeface="Segoe UI"/>
              </a:rPr>
              <a:t>Tüm iş servislerinde AYNI şablon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801368"/>
            <a:ext cx="502920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service/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├─ entities/        JPA entity (+enums, outbox, inbox)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├─ dataAccess/      Spring Data JPA repository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├─ business/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│   ├─ abstracts/   servis arayüzleri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│   ├─ concretes/   Manager implementasyonları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5A623"/>
                </a:solidFill>
                <a:latin typeface="Consolas"/>
              </a:rPr>
              <a:t>│   ├─ rules/       iş kuralı sınıfları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│   ├─ mappers/     MapStruct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│   ├─ constants/   Messages (i18n), sabitler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5A623"/>
                </a:solidFill>
                <a:latin typeface="Consolas"/>
              </a:rPr>
              <a:t>│   ├─ dtos/        requests / responses / events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│   └─ messaging/   Kafka consumer binding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├─ apiController/   REST uçları (ince katman)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└─ core/            config · exceptions · constants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Referans şablon: customer-service. Diğer servisler birebir aynı desende.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Sorumlulukların ayrılması (SoC):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Controller ince, iş mantığı business katmanında.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Kural katmanı ayrı: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İş kuralları business/rules altında ayrı @Service.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Manager'a constructor injection ile enjekte edilir.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Katman disiplini: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Manager, yabancı Repository'ye DEĞİL, ilgili Service'e bağımlıdır.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OLAY-TABANLI OMURGA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Güvenilir Mesajlaşma: Outbox + Debezium + Inbox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0881360" cy="566928"/>
          </a:xfrm>
          <a:prstGeom prst="rect">
            <a:avLst/>
          </a:prstGeom>
          <a:solidFill>
            <a:srgbClr val="FB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Problem: </a:t>
            </a:r>
            <a:r>
              <a:rPr sz="1300" b="0">
                <a:solidFill>
                  <a:srgbClr val="142433"/>
                </a:solidFill>
                <a:latin typeface="Segoe UI"/>
              </a:rPr>
              <a:t>«DB'ye yazdım ama Kafka'ya event gitmedi» (dual-write) → tutarsızlık.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2578608" cy="1691640"/>
          </a:xfrm>
          <a:prstGeom prst="rect">
            <a:avLst/>
          </a:prstGeom>
          <a:solidFill>
            <a:srgbClr val="11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31720"/>
            <a:ext cx="2578608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B6B0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22585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İş verisi + outbox_events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AYNI transaction'da yazılır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31720"/>
            <a:ext cx="219456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331720"/>
            <a:ext cx="2578608" cy="16916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331720"/>
            <a:ext cx="2578608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B6B0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88036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Debezium (CDC)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46120"/>
            <a:ext cx="22585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PostgreSQL WAL log'unu izler,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outbox kaydını yakalar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331720"/>
            <a:ext cx="219456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331720"/>
            <a:ext cx="2578608" cy="1691640"/>
          </a:xfrm>
          <a:prstGeom prst="rect">
            <a:avLst/>
          </a:prstGeom>
          <a:solidFill>
            <a:srgbClr val="11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331720"/>
            <a:ext cx="2578608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B6B0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8036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Kafka Topic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246120"/>
            <a:ext cx="22585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EventRouter 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crm.&lt;Aggregate&gt;.events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331720"/>
            <a:ext cx="219456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B6B0"/>
                </a:solidFill>
                <a:latin typeface="Segoe U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331720"/>
            <a:ext cx="2578608" cy="16916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2331720"/>
            <a:ext cx="2578608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B6B0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288036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Inbox (tüketici)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246120"/>
            <a:ext cx="22585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message_id ile idempotent: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FF4"/>
                </a:solidFill>
                <a:latin typeface="Segoe UI"/>
              </a:rPr>
              <a:t>aynı mesaj bir kez işlenir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434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343400"/>
            <a:ext cx="53492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5445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Sonuç: Ghost Event Yok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946904"/>
            <a:ext cx="4946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İş verisi ve event tek transaction'a bağlı;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ya ikisi de commit olur ya hiçbiri.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Event kaybı yapısal olarak imkânsız.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3434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4343400"/>
            <a:ext cx="53492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45445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Sonuç: Duplicate Yok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4946904"/>
            <a:ext cx="4946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Inbox Pattern (PK: message_id) idempotent tüketim;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aynı mesaj tekrar gelse bir kez işlenir.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'Exactly-once benzeri' garanti.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DAĞITIK İŞLEM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Choreography Saga (Merkezi Orkestratör YOK)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Her servis olayı dinler → kendi adımını atar → başarısızsa </a:t>
            </a:r>
            <a:r>
              <a:rPr sz="1350" b="1">
                <a:solidFill>
                  <a:srgbClr val="F5A623"/>
                </a:solidFill>
                <a:latin typeface="Segoe UI"/>
              </a:rPr>
              <a:t>telafi (compensation)</a:t>
            </a:r>
            <a:r>
              <a:rPr sz="1350" b="0">
                <a:solidFill>
                  <a:srgbClr val="142433"/>
                </a:solidFill>
                <a:latin typeface="Segoe UI"/>
              </a:rPr>
              <a:t> eder.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10881360" cy="4572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7451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B6B0"/>
                </a:solidFill>
                <a:latin typeface="Segoe UI"/>
              </a:rPr>
              <a:t>SAGA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1874519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B6B0"/>
                </a:solidFill>
                <a:latin typeface="Segoe UI"/>
              </a:rPr>
              <a:t>Başlatıcı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874519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B6B0"/>
                </a:solidFill>
                <a:latin typeface="Segoe UI"/>
              </a:rPr>
              <a:t>Doğrulayıcı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874519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B6B0"/>
                </a:solidFill>
                <a:latin typeface="Segoe UI"/>
              </a:rPr>
              <a:t>Ne yapar?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3172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33172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18A86"/>
                </a:solidFill>
                <a:latin typeface="Segoe UI"/>
              </a:rPr>
              <a:t>Billing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233172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233172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33172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Hesap açarken müşteri+adresi otoriter doğrular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8036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18A86"/>
                </a:solidFill>
                <a:latin typeface="Segoe UI"/>
              </a:rPr>
              <a:t>Product Sale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288036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288036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88036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Ürün satışında hesabın ACTIVE olduğunu doğrular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42900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18A86"/>
                </a:solidFill>
                <a:latin typeface="Segoe UI"/>
              </a:rPr>
              <a:t>Cart Item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342900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cart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342900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342900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Sepete eklenen teklif/kampanyayı doğrular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77639"/>
            <a:ext cx="10881360" cy="548640"/>
          </a:xfrm>
          <a:prstGeom prst="rect">
            <a:avLst/>
          </a:prstGeom>
          <a:solidFill>
            <a:srgbClr val="ECF2F7"/>
          </a:solidFill>
          <a:ln w="9525">
            <a:solidFill>
              <a:srgbClr val="DD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39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18A86"/>
                </a:solidFill>
                <a:latin typeface="Segoe UI"/>
              </a:rPr>
              <a:t>Order Checkout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3977639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3977639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cart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3977639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Siparişte sepet içeriğini otoriter doğrular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4632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846320"/>
            <a:ext cx="53492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04748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Ortak Desen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5449824"/>
            <a:ext cx="49469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Asenkron: endpoint hemen döner, kayıt kısa süre PENDING.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Telafi: doğrulama başarısızsa CANCELLED + soft-delete.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Durum-bazlı idempotency: sonuç yalnızca PENDING iken uygulanır.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84632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4846320"/>
            <a:ext cx="53492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504748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Neden Choreography?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5449824"/>
            <a:ext cx="49469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Orchestration merkezi bağımlılık (single point of coupling) yaratırdı.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Choreography'de servisler gevşek bağlı — her biri sadece olayları bilir.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API SÖZLEŞMESI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Neden Request/Response Mantığı? (DTO + MapStruct)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Karar: </a:t>
            </a:r>
            <a:r>
              <a:rPr sz="1400" b="1">
                <a:solidFill>
                  <a:srgbClr val="118A86"/>
                </a:solidFill>
                <a:latin typeface="Segoe UI"/>
              </a:rPr>
              <a:t>Entity'ler asla API'ye sızmaz. Her uç record DTO alır ve döner.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5212080" cy="21031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74519"/>
            <a:ext cx="64008" cy="210312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6595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B6B0"/>
                </a:solidFill>
                <a:latin typeface="Segoe UI"/>
              </a:rPr>
              <a:t>Akış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58567"/>
            <a:ext cx="475488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İstek  →  CreateCustomerRequest (record)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            │  MapStruct mapper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               ▼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Entity →  IndividualCustomer (JPA)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            │  MapStruct mapper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               ▼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Yanıt  ←  IndividualCustomerResponse (record)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874519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18A86"/>
                </a:solidFill>
                <a:latin typeface="Segoe UI"/>
              </a:rPr>
              <a:t>▸  Güvenlik/kapsülleme: istemci hangi alanı yazabilir kontrollü; id/tarihler request'te yok.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▸  API sözleşmesi stabil: entity değişince API kırılmaz.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▸  Doğrulama noktası net: anotasyonlar request DTO'sunda.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▸  Farklı gösterimler: aynı entity için özet/detay response.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42433"/>
                </a:solidFill>
                <a:latin typeface="Segoe UI"/>
              </a:rPr>
              <a:t>▸  record seçimi: immutable, boilerplate yok, value-object semantiği.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18A86"/>
                </a:solidFill>
                <a:latin typeface="Segoe UI"/>
              </a:rPr>
              <a:t>▸  MapStruct: dönüşüm compile-time üretilir; türetilen alanlar ignore=true.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KALITE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Validasyonlar (Uçtan Uca · Defense-in-Depth)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685800" cy="1920240"/>
          </a:xfrm>
          <a:prstGeom prst="rect">
            <a:avLst/>
          </a:prstGeom>
          <a:solidFill>
            <a:srgbClr val="11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6858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B6B0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2763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Bean Validation (@Valid)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029968"/>
            <a:ext cx="4343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@NotBlank · @Size · @Email · @Pattern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Örn: hesap no ^\d{10}$, ad harf-maskesi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Request DTO'sunda tanımlı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6304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63040"/>
            <a:ext cx="685800" cy="19202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63040"/>
            <a:ext cx="6858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B6B0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2763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İş Kuralları (business/rules)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029968"/>
            <a:ext cx="4343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Format ötesi kurallar → BusinessException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«Aktif ürünü olan hesap silinemez»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«Aynı sepet iki kez sipariş edilemez»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685800" cy="1920240"/>
          </a:xfrm>
          <a:prstGeom prst="rect">
            <a:avLst/>
          </a:prstGeom>
          <a:solidFill>
            <a:srgbClr val="11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6858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B6B0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7647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GlobalExceptionHandler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178808"/>
            <a:ext cx="4343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RFC 7807 ProblemDetail formatı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@Valid→400 (alan bazlı), beklenmeyen→500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Kök neden istemciye sızdırılmaz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61188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611880"/>
            <a:ext cx="685800" cy="19202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611880"/>
            <a:ext cx="6858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B6B0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77647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Frontend: Signal Forms + Directive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178808"/>
            <a:ext cx="4343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LettersOnly / DigitsOnly maskeleri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Şema bazlı doğrulama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433"/>
                </a:solidFill>
                <a:latin typeface="Segoe UI"/>
              </a:rPr>
              <a:t>▸  Backend @Size/@Pattern ile hizalı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Kurallar üç yerde birebir aynı (frontend + 2 backend servisi); biri değişince diğerleri de değişmeli — bilinçli belgelendi.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ULUSLARARASILAŞMA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Çok Dil Desteği (i18n — Uçtan Uca)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2433"/>
                </a:solidFill>
                <a:latin typeface="Segoe UI"/>
              </a:rPr>
              <a:t>Hem frontend hem backend </a:t>
            </a:r>
            <a:r>
              <a:rPr sz="1400" b="1">
                <a:solidFill>
                  <a:srgbClr val="118A86"/>
                </a:solidFill>
                <a:latin typeface="Segoe UI"/>
              </a:rPr>
              <a:t>Türkçe + İngilizce</a:t>
            </a:r>
            <a:r>
              <a:rPr sz="1400" b="0">
                <a:solidFill>
                  <a:srgbClr val="142433"/>
                </a:solidFill>
                <a:latin typeface="Segoe UI"/>
              </a:rPr>
              <a:t> destekler.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5349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74519"/>
            <a:ext cx="53492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075687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Frontend — Sinyal-tabanlı i18n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478023"/>
            <a:ext cx="494690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Kendi özel I18nService'imiz (harici kütüphane yok).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t = computed(() =&gt; TRANSLATIONS[lang()])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Şablonda: {{ t().login.title }}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LANGUAGES = ['tr','en'], varsayılan 'tr'.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Seçim localStorage'da; &lt;html lang&gt; güncellenir.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Sıfır bağımlılık + tam tip güvenliği.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349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874519"/>
            <a:ext cx="53492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075687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Backend — MessageSource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478023"/>
            <a:ext cx="494690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Mesajlar kodda değil, anahtar olarak: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Messages.CUSTOMER_NOT_FOUND = 'customer.notFound'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messages.properties (TR) / messages_en.properties (EN)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GlobalExceptionHandler, Accept-Language başlığına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göre doğru dilde çözer.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API hata mesajları da isteğin dilinde döner.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66360"/>
            <a:ext cx="10881360" cy="7772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B6B0"/>
                </a:solidFill>
                <a:latin typeface="Segoe UI"/>
              </a:rPr>
              <a:t>Vurgu:  </a:t>
            </a:r>
            <a:r>
              <a:rPr sz="1300" b="0">
                <a:solidFill>
                  <a:srgbClr val="E8EFF4"/>
                </a:solidFill>
                <a:latin typeface="Segoe UI"/>
              </a:rPr>
              <a:t>Dil desteği yalnızca arayüzde değil; API hata mesajları da isteğin diline göre dönüyor → uçtan uca i18n.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GÜVENLIK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Kimlik Doğrulama &amp; Yetkilendirme (Keycloak / OAuth2)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Keycloak (etiya-crm realm) — merkezi kimlik, tek otorite.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OAuth2 Resource Server (JWT):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Gateway doğrular; BFF token'ı yeniden doğrular (defense-in-depth).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Token relay: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Authorization başlığı downstream'e aynen taşınır.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Her servis çağıran kullanıcıyla doğrular.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Lazy provisioning: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Keycloak kullanıcısı ilk istekte SystemUser olarak referanslanır.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Parola/rol kopyalanmaz — otorite Keycloak.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▸  CORS: yalnızca localhost:4200, Bearer → allowCredentials=false.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166360" cy="39319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64008" cy="393192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B6B0"/>
                </a:solidFill>
                <a:latin typeface="Segoe UI"/>
              </a:rPr>
              <a:t>Defense-in-Depth akışı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1938528"/>
            <a:ext cx="470916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Browser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│  Bearer JWT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   ▼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Gateway  ── JWT doğrula ──►  route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│  Authorization relay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   ▼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BFF / Servis  ── JWT yeniden doğrula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   ▼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5A623"/>
                </a:solidFill>
                <a:latin typeface="Consolas"/>
              </a:rPr>
              <a:t>Keycloak  (etiya-crm realm)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token · rol · oturum otoritesi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Frontend Mimarisi (Angular 22 · Signals)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Angular 22 — standalone bileşenler (NgModule yok).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State yönetimi: Signals + computed() (reaktif, sade).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Signal Forms (@angular/forms/signals):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–  Tip güvenli, şema bazlı formlar.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▸  Tailwind CSS 4 — utility-first stil.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▸  Gateway üzerinden tek base URL şeması ile API.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42433"/>
                </a:solidFill>
                <a:latin typeface="Segoe UI"/>
              </a:rPr>
              <a:t>▸  Erişilebilirlik: WCAG AA (ARIA, kontrast, focus).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18A86"/>
                </a:solidFill>
                <a:latin typeface="Segoe UI"/>
              </a:rPr>
              <a:t>▸  En güncel Angular + yeni form API'si → RxJS/NgModule ağırlığı olmadan tip güvenli.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166360" cy="38404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64008" cy="384048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B6B0"/>
                </a:solidFill>
                <a:latin typeface="Segoe UI"/>
              </a:rPr>
              <a:t>Feature-based klasör yapısı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1892808"/>
            <a:ext cx="4709160" cy="3383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1FB6B0"/>
                </a:solidFill>
                <a:latin typeface="Consolas"/>
              </a:rPr>
              <a:t>src/app/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├─ core/      auth · config · i18n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│             (singleton servisler)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├─ features/  auth · customers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│             (create/detail/search) · new-sale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├─ layout/    main-layout · sidebar · topbar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8EFF4"/>
                </a:solidFill>
                <a:latin typeface="Consolas"/>
              </a:rPr>
              <a:t>└─ shared/    ui/ (button, pagination,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B3C4"/>
                </a:solidFill>
                <a:latin typeface="Consolas"/>
              </a:rPr>
              <a:t>              stepper…) · directives/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⭐ KRITIK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Yapay Zekayı Geliştirmeye Nasıl Entegre Ettik?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349240" cy="196596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53492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B6B0"/>
                </a:solidFill>
                <a:latin typeface="Segoe UI"/>
              </a:rPr>
              <a:t>Hangi AI? Neden?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FF4"/>
                </a:solidFill>
                <a:latin typeface="Segoe UI"/>
              </a:rPr>
              <a:t>▸  Claude (Anthropic) — Claude Code / Opus, geliştirme ajanı olarak.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FF4"/>
                </a:solidFill>
                <a:latin typeface="Segoe UI"/>
              </a:rPr>
              <a:t>–  Geniş bağlam: 10 servisli repoyu bütün görür.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FF4"/>
                </a:solidFill>
                <a:latin typeface="Segoe UI"/>
              </a:rPr>
              <a:t>–  Güçlü mimari muhakeme (Saga, Outbox, CQRS).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FF4"/>
                </a:solidFill>
                <a:latin typeface="Segoe UI"/>
              </a:rPr>
              <a:t>–  Referans-şablon disiplini → homojen kod.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349240" cy="196596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3492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A623"/>
                </a:solidFill>
                <a:latin typeface="Segoe UI"/>
              </a:rPr>
              <a:t>Nasıl entegre ettik? (Süreç)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FF4"/>
                </a:solidFill>
                <a:latin typeface="Segoe UI"/>
              </a:rPr>
              <a:t>▸  AI kod yazdıran değil; kararı biz verip uygulatan eş-programcı.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FF4"/>
                </a:solidFill>
                <a:latin typeface="Segoe UI"/>
              </a:rPr>
              <a:t>▸  Her servise yapılandırılmış prompt (search-service-prompt.md).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FF4"/>
                </a:solidFill>
                <a:latin typeface="Segoe UI"/>
              </a:rPr>
              <a:t>▸  Ürettiği her kodu biz review edip mimariye uydurduk.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10881360" cy="242316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49039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F33"/>
                </a:solidFill>
                <a:latin typeface="Segoe UI"/>
              </a:rPr>
              <a:t>⭐ Agent'ın yaptıklarımızı UNUTMAMASI için ne yaptık?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18A86"/>
                </a:solidFill>
                <a:latin typeface="Segoe UI"/>
              </a:rPr>
              <a:t>▸  docs/project-brain.md — «Projenin Canlı Hafızası»: tüm mimari kararlar, gerekçeler, standartlar, tuzaklar, değişiklik günlüğü.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22E4A"/>
                </a:solidFill>
                <a:latin typeface="Segoe UI"/>
              </a:rPr>
              <a:t>–  AI her yeni göreve başlarken ÖNCE bunu okur → önceki kararları hatırlar, tutarsız kod üretmez.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18A86"/>
                </a:solidFill>
                <a:latin typeface="Segoe UI"/>
              </a:rPr>
              <a:t>▸  CLAUDE.md — kodlama konvansiyonları (Angular/TS best-practice); her oturumda uygulanır.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18A86"/>
                </a:solidFill>
                <a:latin typeface="Segoe UI"/>
              </a:rPr>
              <a:t>▸  Kalıcı memory dosyaları — tekrar eden kurallar ayrı hatırlanır (örn. Manager→Service bağımlılığı).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1F33"/>
                </a:solidFill>
                <a:latin typeface="Segoe UI"/>
              </a:rPr>
              <a:t>Sonuç: AI'nın en büyük zayıflığı (oturumlar arası unutkanlık) çözüldü → 10 servis de aynı desende, tutarlı.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82296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B6B0"/>
                </a:solidFill>
                <a:latin typeface="Segoe UI"/>
              </a:rPr>
              <a:t>CANLI GÖSTERIM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Demo Senaryosu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FB3C4"/>
                </a:solidFill>
                <a:latin typeface="Segoe UI"/>
              </a:rPr>
              <a:t>Etiya CRM Lite  ·  Mikroservis Mimarili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FB6B0"/>
                </a:solidFill>
                <a:latin typeface="Segoe U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0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B1F33"/>
                </a:solidFill>
                <a:latin typeface="Segoe U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554480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554480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18A86"/>
                </a:solidFill>
                <a:latin typeface="Segoe UI"/>
              </a:rPr>
              <a:t>Giriş (Keycloak)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42433"/>
                </a:solidFill>
                <a:latin typeface="Segoe UI"/>
              </a:rPr>
              <a:t>Login + dil değiştir: TR ↔ EN göster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04288"/>
            <a:ext cx="548640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04288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B1F33"/>
                </a:solidFill>
                <a:latin typeface="Segoe U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304288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304288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18A86"/>
                </a:solidFill>
                <a:latin typeface="Segoe UI"/>
              </a:rPr>
              <a:t>Müşteri Arama (FR-002)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04288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42433"/>
                </a:solidFill>
                <a:latin typeface="Segoe UI"/>
              </a:rPr>
              <a:t>TC / ad / hesap no ile ara · validasyonu göster (ada rakam → engellenir)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54096"/>
            <a:ext cx="548640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54096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B1F33"/>
                </a:solidFill>
                <a:latin typeface="Segoe U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054096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054096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18A86"/>
                </a:solidFill>
                <a:latin typeface="Segoe UI"/>
              </a:rPr>
              <a:t>Müşteri Oluştur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054096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42433"/>
                </a:solidFill>
                <a:latin typeface="Segoe UI"/>
              </a:rPr>
              <a:t>Çok adımlı form (Signal Forms) · validasyon hataları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03904"/>
            <a:ext cx="548640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03904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B1F33"/>
                </a:solidFill>
                <a:latin typeface="Segoe U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3803904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3803904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18A86"/>
                </a:solidFill>
                <a:latin typeface="Segoe UI"/>
              </a:rPr>
              <a:t>Müşteri Detay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03904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42433"/>
                </a:solidFill>
                <a:latin typeface="Segoe UI"/>
              </a:rPr>
              <a:t>BFF ile tek çağrıda müşteri + fatura hesapları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53712"/>
            <a:ext cx="548640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53712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B1F33"/>
                </a:solidFill>
                <a:latin typeface="Segoe U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553712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553712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18A86"/>
                </a:solidFill>
                <a:latin typeface="Segoe UI"/>
              </a:rPr>
              <a:t>Swagger UI (ops.)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553712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42433"/>
                </a:solidFill>
                <a:latin typeface="Segoe UI"/>
              </a:rPr>
              <a:t>Bir servisin otomatik API dokümanı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303520"/>
            <a:ext cx="548640" cy="65836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03520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B1F33"/>
                </a:solidFill>
                <a:latin typeface="Segoe U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5303520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303520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18A86"/>
                </a:solidFill>
                <a:latin typeface="Segoe UI"/>
              </a:rPr>
              <a:t>Kafka UI / RedisInsight (ops.)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303520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42433"/>
                </a:solidFill>
                <a:latin typeface="Segoe UI"/>
              </a:rPr>
              <a:t>Olay akışını ve cache'i göster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solidFill>
            <a:srgbClr val="FB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Yedek plan: </a:t>
            </a:r>
            <a:r>
              <a:rPr sz="1200" b="0">
                <a:solidFill>
                  <a:srgbClr val="142433"/>
                </a:solidFill>
                <a:latin typeface="Segoe UI"/>
              </a:rPr>
              <a:t>Canlı demo riskliyse önceden ekran kaydı hazır bulundurun.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Kapanış · Öğrenilenler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08760"/>
            <a:ext cx="2743200" cy="41148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49240" cy="82296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299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Neyi Başardık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32304"/>
            <a:ext cx="49469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Üretim-benzeri, 10 servisli, olay-tabanlı mikroservis mimarisi.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Dağıtık tutarlılık → Saga + Outbox/Inbox.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Uçtan uca kalite: validasyon, çok dil, merkezi hata yönetimi, güvenlik.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AI'yı disiplinli bir süreçle (project-brain hafızası) entegre ettik.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349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3492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0299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2433"/>
                </a:solidFill>
                <a:latin typeface="Segoe UI"/>
              </a:rPr>
              <a:t>Öğrenilenler / Zorluklar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32304"/>
            <a:ext cx="49469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Dağıtık tutarlılık senkron çağrıdan çok daha zor — asenkron düşünmeyi öğrendik.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Ghost event / duplicate consume gibi görünmez hataların farkına vardık.</a:t>
            </a: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42433"/>
                </a:solidFill>
                <a:latin typeface="Segoe UI"/>
              </a:rPr>
              <a:t>▸  Config'in git backend'den okunması → commit+push disiplini gerektirdi.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solidFill>
            <a:srgbClr val="1F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F33"/>
                </a:solidFill>
                <a:latin typeface="Segoe UI"/>
              </a:rPr>
              <a:t>Teşekkürler — 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